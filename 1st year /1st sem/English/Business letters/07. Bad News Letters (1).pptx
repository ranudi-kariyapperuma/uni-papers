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4" r:id="rId9"/>
    <p:sldId id="265" r:id="rId10"/>
    <p:sldId id="263"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74" autoAdjust="0"/>
    <p:restoredTop sz="94660"/>
  </p:normalViewPr>
  <p:slideViewPr>
    <p:cSldViewPr snapToGrid="0">
      <p:cViewPr varScale="1">
        <p:scale>
          <a:sx n="68" d="100"/>
          <a:sy n="68" d="100"/>
        </p:scale>
        <p:origin x="73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10/8/2020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10/8/2020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10/8/2020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10/8/2020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10/8/2020</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10/8/2020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10/8/2020</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10/8/2020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10/8/2020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10/8/2020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10/8/2020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10/8/2020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10/8/2020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10/8/2020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10/8/2020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10/8/2020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10/8/2020</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Bad News Letters </a:t>
            </a:r>
          </a:p>
        </p:txBody>
      </p:sp>
      <p:sp>
        <p:nvSpPr>
          <p:cNvPr id="3" name="Subtitle 2"/>
          <p:cNvSpPr>
            <a:spLocks noGrp="1"/>
          </p:cNvSpPr>
          <p:nvPr>
            <p:ph type="subTitle" idx="1"/>
          </p:nvPr>
        </p:nvSpPr>
        <p:spPr/>
        <p:txBody>
          <a:bodyPr/>
          <a:lstStyle/>
          <a:p>
            <a:r>
              <a:rPr lang="en-US" altLang="en-US" dirty="0"/>
              <a:t>The Indirect Approach </a:t>
            </a:r>
          </a:p>
          <a:p>
            <a:endParaRPr lang="en-US" dirty="0"/>
          </a:p>
        </p:txBody>
      </p:sp>
    </p:spTree>
    <p:extLst>
      <p:ext uri="{BB962C8B-B14F-4D97-AF65-F5344CB8AC3E}">
        <p14:creationId xmlns:p14="http://schemas.microsoft.com/office/powerpoint/2010/main" val="22936791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a ‘bad news’ message? </a:t>
            </a:r>
          </a:p>
        </p:txBody>
      </p:sp>
      <p:sp>
        <p:nvSpPr>
          <p:cNvPr id="3" name="Content Placeholder 2"/>
          <p:cNvSpPr>
            <a:spLocks noGrp="1"/>
          </p:cNvSpPr>
          <p:nvPr>
            <p:ph idx="1"/>
          </p:nvPr>
        </p:nvSpPr>
        <p:spPr/>
        <p:txBody>
          <a:bodyPr>
            <a:normAutofit/>
          </a:bodyPr>
          <a:lstStyle/>
          <a:p>
            <a:r>
              <a:rPr lang="en-US" sz="2000" dirty="0"/>
              <a:t>A </a:t>
            </a:r>
            <a:r>
              <a:rPr lang="en-US" sz="2000" i="1" dirty="0"/>
              <a:t>bad-news message</a:t>
            </a:r>
            <a:r>
              <a:rPr lang="en-US" sz="2000" dirty="0"/>
              <a:t> is a letter, memo, or email that conveys negative or unpleasant information</a:t>
            </a:r>
          </a:p>
          <a:p>
            <a:r>
              <a:rPr lang="en-US" sz="2000" dirty="0"/>
              <a:t>information that is likely to disappoint, upset, or even anger a reader. </a:t>
            </a:r>
          </a:p>
          <a:p>
            <a:r>
              <a:rPr lang="en-US" sz="2000" dirty="0"/>
              <a:t>Also called an</a:t>
            </a:r>
            <a:r>
              <a:rPr lang="en-US" sz="2000" b="1" dirty="0"/>
              <a:t> </a:t>
            </a:r>
            <a:r>
              <a:rPr lang="en-US" sz="2000" i="1" dirty="0"/>
              <a:t>indirect message</a:t>
            </a:r>
            <a:r>
              <a:rPr lang="en-US" sz="2000" dirty="0"/>
              <a:t> or a </a:t>
            </a:r>
            <a:r>
              <a:rPr lang="en-US" sz="2000" i="1" dirty="0"/>
              <a:t>negative message</a:t>
            </a:r>
            <a:r>
              <a:rPr lang="en-US" sz="2000" dirty="0"/>
              <a:t>.</a:t>
            </a:r>
          </a:p>
          <a:p>
            <a:r>
              <a:rPr lang="en-US" sz="2000" dirty="0"/>
              <a:t>Bad-news messages include rejections (in response to job applications, promotion requests, and the like)</a:t>
            </a:r>
          </a:p>
          <a:p>
            <a:r>
              <a:rPr lang="en-US" sz="2000" dirty="0"/>
              <a:t>negative evaluations</a:t>
            </a:r>
          </a:p>
          <a:p>
            <a:r>
              <a:rPr lang="en-US" sz="2000" dirty="0"/>
              <a:t>announcements of policy changes that don't benefit the reader.</a:t>
            </a:r>
          </a:p>
        </p:txBody>
      </p:sp>
    </p:spTree>
    <p:extLst>
      <p:ext uri="{BB962C8B-B14F-4D97-AF65-F5344CB8AC3E}">
        <p14:creationId xmlns:p14="http://schemas.microsoft.com/office/powerpoint/2010/main" val="38674958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indirect plan/strategy </a:t>
            </a:r>
          </a:p>
        </p:txBody>
      </p:sp>
      <p:sp>
        <p:nvSpPr>
          <p:cNvPr id="3" name="Content Placeholder 2"/>
          <p:cNvSpPr>
            <a:spLocks noGrp="1"/>
          </p:cNvSpPr>
          <p:nvPr>
            <p:ph idx="1"/>
          </p:nvPr>
        </p:nvSpPr>
        <p:spPr/>
        <p:txBody>
          <a:bodyPr/>
          <a:lstStyle/>
          <a:p>
            <a:pPr>
              <a:lnSpc>
                <a:spcPct val="200000"/>
              </a:lnSpc>
              <a:buFont typeface="+mj-lt"/>
              <a:buAutoNum type="arabicPeriod"/>
            </a:pPr>
            <a:r>
              <a:rPr lang="en-US" dirty="0"/>
              <a:t>Intro the message with a positive/neutral buffer statement </a:t>
            </a:r>
          </a:p>
          <a:p>
            <a:pPr>
              <a:lnSpc>
                <a:spcPct val="200000"/>
              </a:lnSpc>
              <a:buFont typeface="+mj-lt"/>
              <a:buAutoNum type="arabicPeriod"/>
            </a:pPr>
            <a:r>
              <a:rPr lang="en-US" dirty="0"/>
              <a:t>Delve into the disappointing news – do not sugar coat this </a:t>
            </a:r>
          </a:p>
          <a:p>
            <a:pPr>
              <a:lnSpc>
                <a:spcPct val="200000"/>
              </a:lnSpc>
              <a:buFont typeface="+mj-lt"/>
              <a:buAutoNum type="arabicPeriod"/>
            </a:pPr>
            <a:r>
              <a:rPr lang="en-US" dirty="0"/>
              <a:t>Closing statement with recommendations/alternatives </a:t>
            </a:r>
          </a:p>
          <a:p>
            <a:endParaRPr lang="en-US" dirty="0"/>
          </a:p>
          <a:p>
            <a:endParaRPr lang="en-US" dirty="0"/>
          </a:p>
        </p:txBody>
      </p:sp>
    </p:spTree>
    <p:extLst>
      <p:ext uri="{BB962C8B-B14F-4D97-AF65-F5344CB8AC3E}">
        <p14:creationId xmlns:p14="http://schemas.microsoft.com/office/powerpoint/2010/main" val="39198992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CRUCIAL introductory Paragraph </a:t>
            </a:r>
          </a:p>
        </p:txBody>
      </p:sp>
      <p:sp>
        <p:nvSpPr>
          <p:cNvPr id="3" name="Content Placeholder 2"/>
          <p:cNvSpPr>
            <a:spLocks noGrp="1"/>
          </p:cNvSpPr>
          <p:nvPr>
            <p:ph idx="1"/>
          </p:nvPr>
        </p:nvSpPr>
        <p:spPr/>
        <p:txBody>
          <a:bodyPr>
            <a:normAutofit/>
          </a:bodyPr>
          <a:lstStyle/>
          <a:p>
            <a:pPr>
              <a:lnSpc>
                <a:spcPct val="200000"/>
              </a:lnSpc>
            </a:pPr>
            <a:r>
              <a:rPr lang="en-US" dirty="0"/>
              <a:t>provide a buffer to cushion the bad news that will follow, </a:t>
            </a:r>
          </a:p>
          <a:p>
            <a:pPr>
              <a:lnSpc>
                <a:spcPct val="200000"/>
              </a:lnSpc>
            </a:pPr>
            <a:r>
              <a:rPr lang="en-US" dirty="0"/>
              <a:t>let the receiver know what the message is about without stating the obvious</a:t>
            </a:r>
          </a:p>
          <a:p>
            <a:pPr>
              <a:lnSpc>
                <a:spcPct val="200000"/>
              </a:lnSpc>
            </a:pPr>
            <a:r>
              <a:rPr lang="en-US" dirty="0"/>
              <a:t>serve as a transition into the discussion of reasons without revealing the bad news or leading the receiver to expect good news. </a:t>
            </a:r>
          </a:p>
          <a:p>
            <a:pPr marL="0" indent="0">
              <a:lnSpc>
                <a:spcPct val="200000"/>
              </a:lnSpc>
              <a:buNone/>
            </a:pPr>
            <a:r>
              <a:rPr lang="en-US" sz="1200" dirty="0"/>
              <a:t>						</a:t>
            </a:r>
            <a:r>
              <a:rPr lang="en-US" sz="1050" dirty="0"/>
              <a:t>Carol M. Lehman and Debbie D </a:t>
            </a:r>
            <a:r>
              <a:rPr lang="en-US" sz="1050" dirty="0" err="1"/>
              <a:t>Dufrene</a:t>
            </a:r>
            <a:r>
              <a:rPr lang="en-US" sz="1050" dirty="0"/>
              <a:t>, </a:t>
            </a:r>
            <a:r>
              <a:rPr lang="en-US" sz="1050" i="1" dirty="0"/>
              <a:t>Business Communication</a:t>
            </a:r>
            <a:r>
              <a:rPr lang="en-US" sz="1050" dirty="0"/>
              <a:t>, 15th ed. Thomson, 2008</a:t>
            </a:r>
          </a:p>
        </p:txBody>
      </p:sp>
    </p:spTree>
    <p:extLst>
      <p:ext uri="{BB962C8B-B14F-4D97-AF65-F5344CB8AC3E}">
        <p14:creationId xmlns:p14="http://schemas.microsoft.com/office/powerpoint/2010/main" val="5019320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body paragraph </a:t>
            </a:r>
          </a:p>
        </p:txBody>
      </p:sp>
      <p:sp>
        <p:nvSpPr>
          <p:cNvPr id="3" name="Content Placeholder 2"/>
          <p:cNvSpPr>
            <a:spLocks noGrp="1"/>
          </p:cNvSpPr>
          <p:nvPr>
            <p:ph idx="1"/>
          </p:nvPr>
        </p:nvSpPr>
        <p:spPr/>
        <p:txBody>
          <a:bodyPr>
            <a:normAutofit fontScale="92500" lnSpcReduction="10000"/>
          </a:bodyPr>
          <a:lstStyle/>
          <a:p>
            <a:pPr>
              <a:lnSpc>
                <a:spcPct val="150000"/>
              </a:lnSpc>
            </a:pPr>
            <a:r>
              <a:rPr lang="en-US" dirty="0"/>
              <a:t>Deliver the bad news in the body of the message. </a:t>
            </a:r>
          </a:p>
          <a:p>
            <a:pPr>
              <a:lnSpc>
                <a:spcPct val="150000"/>
              </a:lnSpc>
            </a:pPr>
            <a:r>
              <a:rPr lang="en-US" dirty="0"/>
              <a:t>State it clearly and concisely, and explain the reasons briefly and unemotionally. </a:t>
            </a:r>
          </a:p>
          <a:p>
            <a:pPr>
              <a:lnSpc>
                <a:spcPct val="150000"/>
              </a:lnSpc>
            </a:pPr>
            <a:r>
              <a:rPr lang="en-US" dirty="0"/>
              <a:t>Avoid apologies; they weaken your explanation or position. </a:t>
            </a:r>
          </a:p>
          <a:p>
            <a:pPr>
              <a:lnSpc>
                <a:spcPct val="150000"/>
              </a:lnSpc>
            </a:pPr>
            <a:r>
              <a:rPr lang="en-US" dirty="0"/>
              <a:t>Try to embed the bad news in a supporting, not the topical, sentence of a paragraph. </a:t>
            </a:r>
          </a:p>
          <a:p>
            <a:pPr>
              <a:lnSpc>
                <a:spcPct val="150000"/>
              </a:lnSpc>
            </a:pPr>
            <a:r>
              <a:rPr lang="en-US" dirty="0"/>
              <a:t>The purpose is not to conceal the bad news, but to soften its impact.</a:t>
            </a:r>
          </a:p>
          <a:p>
            <a:pPr marL="0" indent="0">
              <a:buNone/>
            </a:pPr>
            <a:endParaRPr lang="en-US" sz="1050" dirty="0"/>
          </a:p>
          <a:p>
            <a:pPr marL="0" indent="0">
              <a:buNone/>
            </a:pPr>
            <a:r>
              <a:rPr lang="en-US" sz="1050" dirty="0"/>
              <a:t>		Stuart Carl Smith and Philip K. </a:t>
            </a:r>
            <a:r>
              <a:rPr lang="en-US" sz="1050" dirty="0" err="1"/>
              <a:t>Piele</a:t>
            </a:r>
            <a:r>
              <a:rPr lang="en-US" sz="1050" dirty="0"/>
              <a:t>, </a:t>
            </a:r>
            <a:r>
              <a:rPr lang="en-US" sz="1050" i="1" dirty="0"/>
              <a:t>School Leadership: Handbook for Excellence in Student Learning</a:t>
            </a:r>
            <a:r>
              <a:rPr lang="en-US" sz="1050" dirty="0"/>
              <a:t>. Corwin Press, 2006</a:t>
            </a:r>
          </a:p>
        </p:txBody>
      </p:sp>
    </p:spTree>
    <p:extLst>
      <p:ext uri="{BB962C8B-B14F-4D97-AF65-F5344CB8AC3E}">
        <p14:creationId xmlns:p14="http://schemas.microsoft.com/office/powerpoint/2010/main" val="32933900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closing </a:t>
            </a:r>
          </a:p>
        </p:txBody>
      </p:sp>
      <p:sp>
        <p:nvSpPr>
          <p:cNvPr id="3" name="Content Placeholder 2"/>
          <p:cNvSpPr>
            <a:spLocks noGrp="1"/>
          </p:cNvSpPr>
          <p:nvPr>
            <p:ph idx="1"/>
          </p:nvPr>
        </p:nvSpPr>
        <p:spPr/>
        <p:txBody>
          <a:bodyPr>
            <a:normAutofit fontScale="92500" lnSpcReduction="10000"/>
          </a:bodyPr>
          <a:lstStyle/>
          <a:p>
            <a:pPr>
              <a:lnSpc>
                <a:spcPct val="200000"/>
              </a:lnSpc>
            </a:pPr>
            <a:r>
              <a:rPr lang="en-US" dirty="0"/>
              <a:t>The purpose of the closing is to maintain or rebuild good will. </a:t>
            </a:r>
          </a:p>
          <a:p>
            <a:pPr>
              <a:lnSpc>
                <a:spcPct val="200000"/>
              </a:lnSpc>
            </a:pPr>
            <a:r>
              <a:rPr lang="en-US" dirty="0"/>
              <a:t>Should be courteous and helpful.</a:t>
            </a:r>
          </a:p>
          <a:p>
            <a:pPr>
              <a:lnSpc>
                <a:spcPct val="200000"/>
              </a:lnSpc>
            </a:pPr>
            <a:r>
              <a:rPr lang="en-US" dirty="0"/>
              <a:t>Should have a sincere tone. Avoid overused closings such as </a:t>
            </a:r>
            <a:r>
              <a:rPr lang="en-US" i="1" dirty="0"/>
              <a:t>If you have any questions, please don't hesitate to call</a:t>
            </a:r>
            <a:r>
              <a:rPr lang="en-US" dirty="0"/>
              <a:t>. . . .</a:t>
            </a:r>
          </a:p>
          <a:p>
            <a:pPr>
              <a:lnSpc>
                <a:spcPct val="200000"/>
              </a:lnSpc>
            </a:pPr>
            <a:r>
              <a:rPr lang="en-US" dirty="0"/>
              <a:t>Offer the receiver another option. . . . Presenting another option shifts the emphasis from the negative news to a positive solution.</a:t>
            </a:r>
          </a:p>
          <a:p>
            <a:pPr marL="0" indent="0">
              <a:buNone/>
            </a:pPr>
            <a:r>
              <a:rPr lang="en-US" sz="1050" dirty="0"/>
              <a:t>						Thomas L. Means, </a:t>
            </a:r>
            <a:r>
              <a:rPr lang="en-US" sz="1050" i="1" dirty="0"/>
              <a:t>Business Communications</a:t>
            </a:r>
            <a:r>
              <a:rPr lang="en-US" sz="1050" dirty="0"/>
              <a:t>, 2nd ed. South-Western Educational, 2009)</a:t>
            </a:r>
          </a:p>
          <a:p>
            <a:endParaRPr lang="en-US" dirty="0"/>
          </a:p>
        </p:txBody>
      </p:sp>
    </p:spTree>
    <p:extLst>
      <p:ext uri="{BB962C8B-B14F-4D97-AF65-F5344CB8AC3E}">
        <p14:creationId xmlns:p14="http://schemas.microsoft.com/office/powerpoint/2010/main" val="28309191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a:t>Samples </a:t>
            </a:r>
          </a:p>
        </p:txBody>
      </p:sp>
      <p:sp>
        <p:nvSpPr>
          <p:cNvPr id="3" name="Content Placeholder 2"/>
          <p:cNvSpPr>
            <a:spLocks noGrp="1"/>
          </p:cNvSpPr>
          <p:nvPr>
            <p:ph idx="1"/>
          </p:nvPr>
        </p:nvSpPr>
        <p:spPr/>
        <p:txBody>
          <a:bodyPr>
            <a:normAutofit fontScale="92500" lnSpcReduction="10000"/>
          </a:bodyPr>
          <a:lstStyle/>
          <a:p>
            <a:pPr marL="0" indent="0" algn="just">
              <a:lnSpc>
                <a:spcPct val="150000"/>
              </a:lnSpc>
              <a:buNone/>
            </a:pPr>
            <a:r>
              <a:rPr lang="en-US" dirty="0"/>
              <a:t>	On behalf of the members of the Research &amp; Scholarship Committee, 	thank you for submitting an application for this year's Research &amp; 	Scholarship 	grants competition.</a:t>
            </a:r>
          </a:p>
          <a:p>
            <a:pPr marL="0" indent="0" algn="just">
              <a:lnSpc>
                <a:spcPct val="150000"/>
              </a:lnSpc>
              <a:buNone/>
            </a:pPr>
            <a:r>
              <a:rPr lang="en-US" dirty="0"/>
              <a:t>	I’m sorry to report that your grant proposal was among those that were not 	approved for funding in the spring. With the reduction in grant funds caused 	by budget cuts and the record number of applications, I’m afraid that 	many worthwhile proposals could not be supported.</a:t>
            </a:r>
          </a:p>
          <a:p>
            <a:pPr marL="0" indent="0" algn="just">
              <a:lnSpc>
                <a:spcPct val="150000"/>
              </a:lnSpc>
              <a:buNone/>
            </a:pPr>
            <a:r>
              <a:rPr lang="en-US" dirty="0"/>
              <a:t>	Although you did not receive a grant this year, I trust that you will continue 	to pursue both internal and external funding opportunities.</a:t>
            </a:r>
          </a:p>
          <a:p>
            <a:pPr marL="0" indent="0">
              <a:buNone/>
            </a:pPr>
            <a:endParaRPr lang="en-US" dirty="0"/>
          </a:p>
        </p:txBody>
      </p:sp>
    </p:spTree>
    <p:extLst>
      <p:ext uri="{BB962C8B-B14F-4D97-AF65-F5344CB8AC3E}">
        <p14:creationId xmlns:p14="http://schemas.microsoft.com/office/powerpoint/2010/main" val="34272341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id="{D59F4716-F3CF-44BF-9C34-66E8D834D65A}"/>
              </a:ext>
            </a:extLst>
          </p:cNvPr>
          <p:cNvGraphicFramePr>
            <a:graphicFrameLocks noGrp="1"/>
          </p:cNvGraphicFramePr>
          <p:nvPr>
            <p:ph idx="1"/>
            <p:extLst>
              <p:ext uri="{D42A27DB-BD31-4B8C-83A1-F6EECF244321}">
                <p14:modId xmlns:p14="http://schemas.microsoft.com/office/powerpoint/2010/main" val="330254464"/>
              </p:ext>
            </p:extLst>
          </p:nvPr>
        </p:nvGraphicFramePr>
        <p:xfrm>
          <a:off x="1656522" y="901148"/>
          <a:ext cx="9554817" cy="5426230"/>
        </p:xfrm>
        <a:graphic>
          <a:graphicData uri="http://schemas.openxmlformats.org/drawingml/2006/table">
            <a:tbl>
              <a:tblPr/>
              <a:tblGrid>
                <a:gridCol w="3086343">
                  <a:extLst>
                    <a:ext uri="{9D8B030D-6E8A-4147-A177-3AD203B41FA5}">
                      <a16:colId xmlns:a16="http://schemas.microsoft.com/office/drawing/2014/main" val="3403964756"/>
                    </a:ext>
                  </a:extLst>
                </a:gridCol>
                <a:gridCol w="6468474">
                  <a:extLst>
                    <a:ext uri="{9D8B030D-6E8A-4147-A177-3AD203B41FA5}">
                      <a16:colId xmlns:a16="http://schemas.microsoft.com/office/drawing/2014/main" val="4204843021"/>
                    </a:ext>
                  </a:extLst>
                </a:gridCol>
              </a:tblGrid>
              <a:tr h="390910">
                <a:tc>
                  <a:txBody>
                    <a:bodyPr/>
                    <a:lstStyle/>
                    <a:p>
                      <a:pPr algn="l" fontAlgn="ctr"/>
                      <a:r>
                        <a:rPr lang="en-GB" sz="1800" dirty="0">
                          <a:effectLst/>
                          <a:highlight>
                            <a:srgbClr val="FFFF00"/>
                          </a:highlight>
                          <a:latin typeface="proxima-nova"/>
                        </a:rPr>
                        <a:t>Parts of the Negative News </a:t>
                      </a:r>
                      <a:r>
                        <a:rPr lang="en-GB" sz="1800" dirty="0">
                          <a:effectLst/>
                          <a:latin typeface="proxima-nova"/>
                        </a:rPr>
                        <a:t>Message</a:t>
                      </a:r>
                    </a:p>
                  </a:txBody>
                  <a:tcPr marL="71153" marR="71153" marT="53365" marB="53365" anchor="ctr">
                    <a:lnL>
                      <a:noFill/>
                    </a:lnL>
                    <a:lnR>
                      <a:noFill/>
                    </a:lnR>
                    <a:lnT>
                      <a:noFill/>
                    </a:lnT>
                    <a:lnB>
                      <a:noFill/>
                    </a:lnB>
                    <a:solidFill>
                      <a:srgbClr val="F1F1F1"/>
                    </a:solidFill>
                  </a:tcPr>
                </a:tc>
                <a:tc>
                  <a:txBody>
                    <a:bodyPr/>
                    <a:lstStyle/>
                    <a:p>
                      <a:pPr algn="l" fontAlgn="ctr"/>
                      <a:r>
                        <a:rPr lang="en-GB" sz="1800">
                          <a:effectLst/>
                          <a:latin typeface="proxima-nova"/>
                        </a:rPr>
                        <a:t>Example</a:t>
                      </a:r>
                    </a:p>
                  </a:txBody>
                  <a:tcPr marL="71153" marR="71153" marT="53365" marB="53365" anchor="ctr">
                    <a:lnL>
                      <a:noFill/>
                    </a:lnL>
                    <a:lnR>
                      <a:noFill/>
                    </a:lnR>
                    <a:lnT>
                      <a:noFill/>
                    </a:lnT>
                    <a:lnB>
                      <a:noFill/>
                    </a:lnB>
                    <a:solidFill>
                      <a:srgbClr val="F1F1F1"/>
                    </a:solidFill>
                  </a:tcPr>
                </a:tc>
                <a:extLst>
                  <a:ext uri="{0D108BD9-81ED-4DB2-BD59-A6C34878D82A}">
                    <a16:rowId xmlns:a16="http://schemas.microsoft.com/office/drawing/2014/main" val="3242184066"/>
                  </a:ext>
                </a:extLst>
              </a:tr>
              <a:tr h="622191">
                <a:tc>
                  <a:txBody>
                    <a:bodyPr/>
                    <a:lstStyle/>
                    <a:p>
                      <a:pPr algn="l" fontAlgn="ctr"/>
                      <a:r>
                        <a:rPr lang="en-GB" sz="1800">
                          <a:effectLst/>
                          <a:latin typeface="proxima-nova"/>
                        </a:rPr>
                        <a:t>Buffer or Cushion</a:t>
                      </a:r>
                    </a:p>
                  </a:txBody>
                  <a:tcPr marL="71153" marR="71153" marT="53365" marB="53365" anchor="ctr">
                    <a:lnL>
                      <a:noFill/>
                    </a:lnL>
                    <a:lnR>
                      <a:noFill/>
                    </a:lnR>
                    <a:lnT>
                      <a:noFill/>
                    </a:lnT>
                    <a:lnB>
                      <a:noFill/>
                    </a:lnB>
                    <a:solidFill>
                      <a:srgbClr val="FFFFFF"/>
                    </a:solidFill>
                  </a:tcPr>
                </a:tc>
                <a:tc>
                  <a:txBody>
                    <a:bodyPr/>
                    <a:lstStyle/>
                    <a:p>
                      <a:pPr algn="l" fontAlgn="ctr"/>
                      <a:r>
                        <a:rPr lang="en-GB" sz="1800" dirty="0">
                          <a:effectLst/>
                          <a:latin typeface="proxima-nova"/>
                        </a:rPr>
                        <a:t>Thank you for your order. We appreciate your interest in our product.</a:t>
                      </a:r>
                    </a:p>
                  </a:txBody>
                  <a:tcPr marL="71153" marR="71153" marT="53365" marB="53365" anchor="ctr">
                    <a:lnL>
                      <a:noFill/>
                    </a:lnL>
                    <a:lnR>
                      <a:noFill/>
                    </a:lnR>
                    <a:lnT>
                      <a:noFill/>
                    </a:lnT>
                    <a:lnB>
                      <a:noFill/>
                    </a:lnB>
                    <a:solidFill>
                      <a:srgbClr val="FFFFFF"/>
                    </a:solidFill>
                  </a:tcPr>
                </a:tc>
                <a:extLst>
                  <a:ext uri="{0D108BD9-81ED-4DB2-BD59-A6C34878D82A}">
                    <a16:rowId xmlns:a16="http://schemas.microsoft.com/office/drawing/2014/main" val="3824056172"/>
                  </a:ext>
                </a:extLst>
              </a:tr>
              <a:tr h="1064847">
                <a:tc>
                  <a:txBody>
                    <a:bodyPr/>
                    <a:lstStyle/>
                    <a:p>
                      <a:pPr algn="l" fontAlgn="ctr"/>
                      <a:r>
                        <a:rPr lang="en-GB" sz="1800">
                          <a:effectLst/>
                          <a:latin typeface="proxima-nova"/>
                        </a:rPr>
                        <a:t>Explanation</a:t>
                      </a:r>
                    </a:p>
                  </a:txBody>
                  <a:tcPr marL="71153" marR="71153" marT="53365" marB="53365" anchor="ctr">
                    <a:lnL>
                      <a:noFill/>
                    </a:lnL>
                    <a:lnR>
                      <a:noFill/>
                    </a:lnR>
                    <a:lnT>
                      <a:noFill/>
                    </a:lnT>
                    <a:lnB>
                      <a:noFill/>
                    </a:lnB>
                    <a:solidFill>
                      <a:srgbClr val="F9F9F9"/>
                    </a:solidFill>
                  </a:tcPr>
                </a:tc>
                <a:tc>
                  <a:txBody>
                    <a:bodyPr/>
                    <a:lstStyle/>
                    <a:p>
                      <a:pPr algn="l" fontAlgn="ctr"/>
                      <a:r>
                        <a:rPr lang="en-GB" sz="1800">
                          <a:effectLst/>
                          <a:latin typeface="proxima-nova"/>
                        </a:rPr>
                        <a:t>We are writing to let you know that this product has been unexpectedly popular, with over 10,000 requests on the day you placed your order.</a:t>
                      </a:r>
                    </a:p>
                  </a:txBody>
                  <a:tcPr marL="71153" marR="71153" marT="53365" marB="53365" anchor="ctr">
                    <a:lnL>
                      <a:noFill/>
                    </a:lnL>
                    <a:lnR>
                      <a:noFill/>
                    </a:lnR>
                    <a:lnT>
                      <a:noFill/>
                    </a:lnT>
                    <a:lnB>
                      <a:noFill/>
                    </a:lnB>
                    <a:solidFill>
                      <a:srgbClr val="F9F9F9"/>
                    </a:solidFill>
                  </a:tcPr>
                </a:tc>
                <a:extLst>
                  <a:ext uri="{0D108BD9-81ED-4DB2-BD59-A6C34878D82A}">
                    <a16:rowId xmlns:a16="http://schemas.microsoft.com/office/drawing/2014/main" val="2792392826"/>
                  </a:ext>
                </a:extLst>
              </a:tr>
              <a:tr h="1295084">
                <a:tc>
                  <a:txBody>
                    <a:bodyPr/>
                    <a:lstStyle/>
                    <a:p>
                      <a:pPr algn="l" fontAlgn="ctr"/>
                      <a:r>
                        <a:rPr lang="en-GB" sz="1800">
                          <a:effectLst/>
                          <a:latin typeface="proxima-nova"/>
                        </a:rPr>
                        <a:t>Negative News</a:t>
                      </a:r>
                    </a:p>
                  </a:txBody>
                  <a:tcPr marL="71153" marR="71153" marT="53365" marB="53365" anchor="ctr">
                    <a:lnL>
                      <a:noFill/>
                    </a:lnL>
                    <a:lnR>
                      <a:noFill/>
                    </a:lnR>
                    <a:lnT>
                      <a:noFill/>
                    </a:lnT>
                    <a:lnB>
                      <a:noFill/>
                    </a:lnB>
                    <a:solidFill>
                      <a:srgbClr val="FFFFFF"/>
                    </a:solidFill>
                  </a:tcPr>
                </a:tc>
                <a:tc>
                  <a:txBody>
                    <a:bodyPr/>
                    <a:lstStyle/>
                    <a:p>
                      <a:pPr algn="l" fontAlgn="ctr"/>
                      <a:r>
                        <a:rPr lang="en-GB" sz="1800">
                          <a:effectLst/>
                          <a:latin typeface="proxima-nova"/>
                        </a:rPr>
                        <a:t>This unexpected increase in demand has resulted in a temporary out-of-stock/backorder situation. We will fulfill your order, received at 11:59 p.m. on 09/09/2009, in the order it was received.</a:t>
                      </a:r>
                    </a:p>
                  </a:txBody>
                  <a:tcPr marL="71153" marR="71153" marT="53365" marB="53365" anchor="ctr">
                    <a:lnL>
                      <a:noFill/>
                    </a:lnL>
                    <a:lnR>
                      <a:noFill/>
                    </a:lnR>
                    <a:lnT>
                      <a:noFill/>
                    </a:lnT>
                    <a:lnB>
                      <a:noFill/>
                    </a:lnB>
                    <a:solidFill>
                      <a:srgbClr val="FFFFFF"/>
                    </a:solidFill>
                  </a:tcPr>
                </a:tc>
                <a:extLst>
                  <a:ext uri="{0D108BD9-81ED-4DB2-BD59-A6C34878D82A}">
                    <a16:rowId xmlns:a16="http://schemas.microsoft.com/office/drawing/2014/main" val="2376856413"/>
                  </a:ext>
                </a:extLst>
              </a:tr>
              <a:tr h="1755559">
                <a:tc>
                  <a:txBody>
                    <a:bodyPr/>
                    <a:lstStyle/>
                    <a:p>
                      <a:pPr algn="l" fontAlgn="ctr"/>
                      <a:r>
                        <a:rPr lang="en-GB" sz="1800" dirty="0">
                          <a:effectLst/>
                          <a:latin typeface="proxima-nova"/>
                        </a:rPr>
                        <a:t>Redirect</a:t>
                      </a:r>
                    </a:p>
                  </a:txBody>
                  <a:tcPr marL="71153" marR="71153" marT="53365" marB="53365" anchor="ctr">
                    <a:lnL>
                      <a:noFill/>
                    </a:lnL>
                    <a:lnR>
                      <a:noFill/>
                    </a:lnR>
                    <a:lnT>
                      <a:noFill/>
                    </a:lnT>
                    <a:lnB>
                      <a:noFill/>
                    </a:lnB>
                    <a:solidFill>
                      <a:srgbClr val="F9F9F9"/>
                    </a:solidFill>
                  </a:tcPr>
                </a:tc>
                <a:tc>
                  <a:txBody>
                    <a:bodyPr/>
                    <a:lstStyle/>
                    <a:p>
                      <a:pPr algn="l" fontAlgn="ctr"/>
                      <a:r>
                        <a:rPr lang="en-GB" sz="1800" dirty="0">
                          <a:effectLst/>
                          <a:latin typeface="proxima-nova"/>
                        </a:rPr>
                        <a:t>We anticipate that your product will ship next Monday. While you wait, we encourage you to consider using the enclosed $5 off coupon toward the purchase of any product in our </a:t>
                      </a:r>
                      <a:r>
                        <a:rPr lang="en-GB" sz="1800" dirty="0" err="1">
                          <a:effectLst/>
                          <a:latin typeface="proxima-nova"/>
                        </a:rPr>
                        <a:t>catalog</a:t>
                      </a:r>
                      <a:r>
                        <a:rPr lang="en-GB" sz="1800" dirty="0">
                          <a:effectLst/>
                          <a:latin typeface="proxima-nova"/>
                        </a:rPr>
                        <a:t>. We appreciate your business and want you to know that our highest priority is your satisfaction.</a:t>
                      </a:r>
                    </a:p>
                  </a:txBody>
                  <a:tcPr marL="71153" marR="71153" marT="53365" marB="53365" anchor="ctr">
                    <a:lnL>
                      <a:noFill/>
                    </a:lnL>
                    <a:lnR>
                      <a:noFill/>
                    </a:lnR>
                    <a:lnT>
                      <a:noFill/>
                    </a:lnT>
                    <a:lnB>
                      <a:noFill/>
                    </a:lnB>
                    <a:solidFill>
                      <a:srgbClr val="F9F9F9"/>
                    </a:solidFill>
                  </a:tcPr>
                </a:tc>
                <a:extLst>
                  <a:ext uri="{0D108BD9-81ED-4DB2-BD59-A6C34878D82A}">
                    <a16:rowId xmlns:a16="http://schemas.microsoft.com/office/drawing/2014/main" val="387420430"/>
                  </a:ext>
                </a:extLst>
              </a:tr>
            </a:tbl>
          </a:graphicData>
        </a:graphic>
      </p:graphicFrame>
    </p:spTree>
    <p:extLst>
      <p:ext uri="{BB962C8B-B14F-4D97-AF65-F5344CB8AC3E}">
        <p14:creationId xmlns:p14="http://schemas.microsoft.com/office/powerpoint/2010/main" val="23379614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D439FB2C-19C5-4C58-9822-EB2EF4F24D34}"/>
              </a:ext>
            </a:extLst>
          </p:cNvPr>
          <p:cNvPicPr>
            <a:picLocks noGrp="1" noChangeAspect="1"/>
          </p:cNvPicPr>
          <p:nvPr>
            <p:ph idx="1"/>
          </p:nvPr>
        </p:nvPicPr>
        <p:blipFill>
          <a:blip r:embed="rId2"/>
          <a:stretch>
            <a:fillRect/>
          </a:stretch>
        </p:blipFill>
        <p:spPr>
          <a:xfrm>
            <a:off x="1577876" y="624110"/>
            <a:ext cx="9831022" cy="6004372"/>
          </a:xfrm>
          <a:prstGeom prst="rect">
            <a:avLst/>
          </a:prstGeom>
        </p:spPr>
      </p:pic>
    </p:spTree>
    <p:extLst>
      <p:ext uri="{BB962C8B-B14F-4D97-AF65-F5344CB8AC3E}">
        <p14:creationId xmlns:p14="http://schemas.microsoft.com/office/powerpoint/2010/main" val="22742054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 activity </a:t>
            </a:r>
          </a:p>
        </p:txBody>
      </p:sp>
      <p:sp>
        <p:nvSpPr>
          <p:cNvPr id="3" name="Content Placeholder 2"/>
          <p:cNvSpPr>
            <a:spLocks noGrp="1"/>
          </p:cNvSpPr>
          <p:nvPr>
            <p:ph idx="1"/>
          </p:nvPr>
        </p:nvSpPr>
        <p:spPr/>
        <p:txBody>
          <a:bodyPr/>
          <a:lstStyle/>
          <a:p>
            <a:pPr marL="0" indent="0">
              <a:lnSpc>
                <a:spcPct val="200000"/>
              </a:lnSpc>
              <a:buNone/>
            </a:pPr>
            <a:r>
              <a:rPr lang="en-US" dirty="0"/>
              <a:t>Write ‘bad news’ letters to any of the following recipients; </a:t>
            </a:r>
          </a:p>
          <a:p>
            <a:pPr>
              <a:lnSpc>
                <a:spcPct val="200000"/>
              </a:lnSpc>
              <a:buAutoNum type="arabicPeriod"/>
            </a:pPr>
            <a:r>
              <a:rPr lang="en-US" dirty="0"/>
              <a:t>a job applicant that was not hired</a:t>
            </a:r>
          </a:p>
          <a:p>
            <a:pPr>
              <a:lnSpc>
                <a:spcPct val="200000"/>
              </a:lnSpc>
              <a:buAutoNum type="arabicPeriod"/>
            </a:pPr>
            <a:r>
              <a:rPr lang="en-US" dirty="0"/>
              <a:t>a vendor whose services you will no longer be using</a:t>
            </a:r>
          </a:p>
          <a:p>
            <a:pPr>
              <a:lnSpc>
                <a:spcPct val="200000"/>
              </a:lnSpc>
              <a:buAutoNum type="arabicPeriod"/>
            </a:pPr>
            <a:r>
              <a:rPr lang="en-US" dirty="0"/>
              <a:t>a client who applied for credit with your company</a:t>
            </a:r>
          </a:p>
        </p:txBody>
      </p:sp>
    </p:spTree>
    <p:extLst>
      <p:ext uri="{BB962C8B-B14F-4D97-AF65-F5344CB8AC3E}">
        <p14:creationId xmlns:p14="http://schemas.microsoft.com/office/powerpoint/2010/main" val="825607979"/>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64</TotalTime>
  <Words>685</Words>
  <Application>Microsoft Office PowerPoint</Application>
  <PresentationFormat>Widescreen</PresentationFormat>
  <Paragraphs>51</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Century Gothic</vt:lpstr>
      <vt:lpstr>proxima-nova</vt:lpstr>
      <vt:lpstr>Wingdings 3</vt:lpstr>
      <vt:lpstr>Wisp</vt:lpstr>
      <vt:lpstr>Bad News Letters </vt:lpstr>
      <vt:lpstr>What is a ‘bad news’ message? </vt:lpstr>
      <vt:lpstr>The indirect plan/strategy </vt:lpstr>
      <vt:lpstr>The CRUCIAL introductory Paragraph </vt:lpstr>
      <vt:lpstr>The body paragraph </vt:lpstr>
      <vt:lpstr>The closing </vt:lpstr>
      <vt:lpstr>Samples </vt:lpstr>
      <vt:lpstr>PowerPoint Presentation</vt:lpstr>
      <vt:lpstr>PowerPoint Presentation</vt:lpstr>
      <vt:lpstr>Class activity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Bad News Letters</dc:title>
  <dc:creator>Natashya Chamba</dc:creator>
  <cp:lastModifiedBy>Piyumi Udeshinee</cp:lastModifiedBy>
  <cp:revision>11</cp:revision>
  <dcterms:created xsi:type="dcterms:W3CDTF">2017-05-25T05:29:48Z</dcterms:created>
  <dcterms:modified xsi:type="dcterms:W3CDTF">2020-10-08T05:07:49Z</dcterms:modified>
</cp:coreProperties>
</file>